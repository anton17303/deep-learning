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yecto Text-to-SQL" id="{b1e1a072-cc33-a450-5233-03067c59c14e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A3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2A33"/>
                </a:solidFill>
                <a:latin typeface="+mn-lt"/>
              </a:rPr>
              <a:t>EX ponderada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 ponderada (%)</c:v>
                </c:pt>
              </c:strCache>
            </c:strRef>
          </c:tx>
          <c:spPr>
            <a:solidFill>
              <a:srgbClr val="9AA7A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F2A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AA7A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7F9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B5C6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Base NF4 (15/40)</c:v>
                  </c:pt>
                  <c:pt idx="1">
                    <c:v>QLoRA rango 8 (21/40)</c:v>
                  </c:pt>
                  <c:pt idx="2">
                    <c:v>QLoRA rango 16 (20/40)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</c:v>
                </c:pt>
                <c:pt idx="1">
                  <c:v>43.9</c:v>
                </c:pt>
                <c:pt idx="2">
                  <c:v>40.2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400" u="none">
                  <a:solidFill>
                    <a:srgbClr val="1F2A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A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DDE5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656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A33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2A33"/>
                </a:solidFill>
                <a:latin typeface="+mn-lt"/>
              </a:rPr>
              <a:t>Errores de la selección final (19 de 40)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Errores</c:v>
                </c:pt>
              </c:strCache>
            </c:strRef>
          </c:tx>
          <c:spPr>
            <a:solidFill>
              <a:srgbClr val="007F9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F2A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Tabla o columna inexistente</c:v>
                  </c:pt>
                  <c:pt idx="1">
                    <c:v>Agregación</c:v>
                  </c:pt>
                  <c:pt idx="2">
                    <c:v>Filtro</c:v>
                  </c:pt>
                  <c:pt idx="3">
                    <c:v>JOIN</c:v>
                  </c:pt>
                  <c:pt idx="4">
                    <c:v>Sintaxis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</c:v>
                </c:pt>
                <c:pt idx="1">
                  <c:v>5</c:v>
                </c:pt>
                <c:pt idx="2">
                  <c:v>3</c:v>
                </c:pt>
                <c:pt idx="3">
                  <c:v>2</c:v>
                </c:pt>
                <c:pt idx="4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1F2A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A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vo círculo grande"/>
          <p:cNvSpPr/>
          <p:nvPr/>
        </p:nvSpPr>
        <p:spPr>
          <a:xfrm>
            <a:off x="6309360" y="640080"/>
            <a:ext cx="3291840" cy="329184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" name="Motivo círculo pequeño"/>
          <p:cNvSpPr/>
          <p:nvPr/>
        </p:nvSpPr>
        <p:spPr>
          <a:xfrm>
            <a:off x="7040880" y="3291840"/>
            <a:ext cx="1371600" cy="13716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Título"/>
          <p:cNvSpPr txBox="1"/>
          <p:nvPr/>
        </p:nvSpPr>
        <p:spPr>
          <a:xfrm>
            <a:off x="640080" y="10058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Text-to-SQL con QLoRA</a:t>
            </a:r>
            <a:endParaRPr lang="en-US" sz="4400" dirty="0"/>
          </a:p>
        </p:txBody>
      </p:sp>
      <p:sp>
        <p:nvSpPr>
          <p:cNvPr id="5" name="Subtítulo"/>
          <p:cNvSpPr txBox="1"/>
          <p:nvPr/>
        </p:nvSpPr>
        <p:spPr>
          <a:xfrm>
            <a:off x="640080" y="20116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Generación de consultas MySQL a partir de preguntas en español</a:t>
            </a:r>
            <a:endParaRPr lang="en-US" sz="2200" dirty="0"/>
          </a:p>
        </p:txBody>
      </p:sp>
      <p:sp>
        <p:nvSpPr>
          <p:cNvPr id="6" name="Autores y curso"/>
          <p:cNvSpPr txBox="1"/>
          <p:nvPr/>
        </p:nvSpPr>
        <p:spPr>
          <a:xfrm>
            <a:off x="640080" y="33832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Nina Nájera y Alejandro Antón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Deep Learning · Universidad del Valle de Guatemala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Objetivo y funcionamiento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Fuente: solucion.py, config.json</a:t>
            </a:r>
            <a:endParaRPr lang="en-US" sz="1000" dirty="0"/>
          </a:p>
        </p:txBody>
      </p:sp>
      <p:sp>
        <p:nvSpPr>
          <p:cNvPr id="4" name="Paso 1"/>
          <p:cNvSpPr/>
          <p:nvPr/>
        </p:nvSpPr>
        <p:spPr>
          <a:xfrm>
            <a:off x="548640" y="1280160"/>
            <a:ext cx="17373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Paso 1 texto"/>
          <p:cNvSpPr txBox="1"/>
          <p:nvPr/>
        </p:nvSpPr>
        <p:spPr>
          <a:xfrm>
            <a:off x="640080" y="12801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Esquema + pregunta</a:t>
            </a:r>
            <a:endParaRPr lang="en-US" sz="1600" dirty="0"/>
          </a:p>
        </p:txBody>
      </p:sp>
      <p:sp>
        <p:nvSpPr>
          <p:cNvPr id="6" name="Flecha 1"/>
          <p:cNvSpPr txBox="1"/>
          <p:nvPr/>
        </p:nvSpPr>
        <p:spPr>
          <a:xfrm>
            <a:off x="2286000" y="128016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→</a:t>
            </a:r>
            <a:endParaRPr lang="en-US" sz="2400" dirty="0"/>
          </a:p>
        </p:txBody>
      </p:sp>
      <p:sp>
        <p:nvSpPr>
          <p:cNvPr id="7" name="Paso 2"/>
          <p:cNvSpPr/>
          <p:nvPr/>
        </p:nvSpPr>
        <p:spPr>
          <a:xfrm>
            <a:off x="2651760" y="1280160"/>
            <a:ext cx="173736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Paso 2 texto"/>
          <p:cNvSpPr txBox="1"/>
          <p:nvPr/>
        </p:nvSpPr>
        <p:spPr>
          <a:xfrm>
            <a:off x="2743200" y="12801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Modelo con adapter</a:t>
            </a:r>
            <a:endParaRPr lang="en-US" sz="1600" dirty="0"/>
          </a:p>
        </p:txBody>
      </p:sp>
      <p:sp>
        <p:nvSpPr>
          <p:cNvPr id="9" name="Flecha 2"/>
          <p:cNvSpPr txBox="1"/>
          <p:nvPr/>
        </p:nvSpPr>
        <p:spPr>
          <a:xfrm>
            <a:off x="4389120" y="128016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→</a:t>
            </a:r>
            <a:endParaRPr lang="en-US" sz="2400" dirty="0"/>
          </a:p>
        </p:txBody>
      </p:sp>
      <p:sp>
        <p:nvSpPr>
          <p:cNvPr id="10" name="Paso 3"/>
          <p:cNvSpPr/>
          <p:nvPr/>
        </p:nvSpPr>
        <p:spPr>
          <a:xfrm>
            <a:off x="4754880" y="1280160"/>
            <a:ext cx="17373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Paso 3 texto"/>
          <p:cNvSpPr txBox="1"/>
          <p:nvPr/>
        </p:nvSpPr>
        <p:spPr>
          <a:xfrm>
            <a:off x="4846320" y="12801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Consulta SQL</a:t>
            </a:r>
            <a:endParaRPr lang="en-US" sz="1600" dirty="0"/>
          </a:p>
        </p:txBody>
      </p:sp>
      <p:sp>
        <p:nvSpPr>
          <p:cNvPr id="12" name="Flecha 3"/>
          <p:cNvSpPr txBox="1"/>
          <p:nvPr/>
        </p:nvSpPr>
        <p:spPr>
          <a:xfrm>
            <a:off x="6492240" y="128016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→</a:t>
            </a:r>
            <a:endParaRPr lang="en-US" sz="2400" dirty="0"/>
          </a:p>
        </p:txBody>
      </p:sp>
      <p:sp>
        <p:nvSpPr>
          <p:cNvPr id="13" name="Paso 4"/>
          <p:cNvSpPr/>
          <p:nvPr/>
        </p:nvSpPr>
        <p:spPr>
          <a:xfrm>
            <a:off x="6858000" y="1280160"/>
            <a:ext cx="17373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Paso 4 texto"/>
          <p:cNvSpPr txBox="1"/>
          <p:nvPr/>
        </p:nvSpPr>
        <p:spPr>
          <a:xfrm>
            <a:off x="6949440" y="12801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MySQL</a:t>
            </a:r>
            <a:endParaRPr lang="en-US" sz="1600" dirty="0"/>
          </a:p>
        </p:txBody>
      </p:sp>
      <p:sp>
        <p:nvSpPr>
          <p:cNvPr id="15" name="Dato Modelo"/>
          <p:cNvSpPr/>
          <p:nvPr/>
        </p:nvSpPr>
        <p:spPr>
          <a:xfrm>
            <a:off x="548640" y="2651760"/>
            <a:ext cx="393192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Dato Modelo texto"/>
          <p:cNvSpPr txBox="1"/>
          <p:nvPr/>
        </p:nvSpPr>
        <p:spPr>
          <a:xfrm>
            <a:off x="731520" y="26517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Modelo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Qwen2.5-Coder-0.5B-Instruct</a:t>
            </a:r>
            <a:endParaRPr lang="en-US" sz="1400" dirty="0"/>
          </a:p>
        </p:txBody>
      </p:sp>
      <p:sp>
        <p:nvSpPr>
          <p:cNvPr id="17" name="Dato Salida"/>
          <p:cNvSpPr/>
          <p:nvPr/>
        </p:nvSpPr>
        <p:spPr>
          <a:xfrm>
            <a:off x="4663440" y="2651760"/>
            <a:ext cx="393192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Dato Salida texto"/>
          <p:cNvSpPr txBox="1"/>
          <p:nvPr/>
        </p:nvSpPr>
        <p:spPr>
          <a:xfrm>
            <a:off x="4846320" y="26517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Salida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Una sola consulta SELECT o WITH SELECT</a:t>
            </a:r>
            <a:endParaRPr lang="en-US" sz="1400" dirty="0"/>
          </a:p>
        </p:txBody>
      </p:sp>
      <p:sp>
        <p:nvSpPr>
          <p:cNvPr id="19" name="Dato Generación"/>
          <p:cNvSpPr/>
          <p:nvPr/>
        </p:nvSpPr>
        <p:spPr>
          <a:xfrm>
            <a:off x="548640" y="3657600"/>
            <a:ext cx="393192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Dato Generación texto"/>
          <p:cNvSpPr txBox="1"/>
          <p:nvPr/>
        </p:nvSpPr>
        <p:spPr>
          <a:xfrm>
            <a:off x="731520" y="36576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Generación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Determinista, sin APIs externas</a:t>
            </a:r>
            <a:endParaRPr lang="en-US" sz="1400" dirty="0"/>
          </a:p>
        </p:txBody>
      </p:sp>
      <p:sp>
        <p:nvSpPr>
          <p:cNvPr id="21" name="Dato Límites"/>
          <p:cNvSpPr/>
          <p:nvPr/>
        </p:nvSpPr>
        <p:spPr>
          <a:xfrm>
            <a:off x="4663440" y="3657600"/>
            <a:ext cx="393192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Dato Límites texto"/>
          <p:cNvSpPr txBox="1"/>
          <p:nvPr/>
        </p:nvSpPr>
        <p:spPr>
          <a:xfrm>
            <a:off x="4846320" y="36576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Límites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300 s de carga y 30 s por pregunta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Datos y separación de esquemas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Fuente: datos/reporte_datos.json, datos/validacion/preguntas.jsonl</a:t>
            </a:r>
            <a:endParaRPr lang="en-US" sz="1000" dirty="0"/>
          </a:p>
        </p:txBody>
      </p:sp>
      <p:sp>
        <p:nvSpPr>
          <p:cNvPr id="4" name="Pares tarjeta"/>
          <p:cNvSpPr/>
          <p:nvPr/>
        </p:nvSpPr>
        <p:spPr>
          <a:xfrm>
            <a:off x="548640" y="1188720"/>
            <a:ext cx="246888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res cifra"/>
          <p:cNvSpPr txBox="1"/>
          <p:nvPr/>
        </p:nvSpPr>
        <p:spPr>
          <a:xfrm>
            <a:off x="685800" y="1280160"/>
            <a:ext cx="219456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3,023</a:t>
            </a:r>
            <a:endParaRPr lang="en-US" sz="3400" dirty="0"/>
          </a:p>
        </p:txBody>
      </p:sp>
      <p:sp>
        <p:nvSpPr>
          <p:cNvPr id="6" name="Pares etiqueta"/>
          <p:cNvSpPr txBox="1"/>
          <p:nvPr/>
        </p:nvSpPr>
        <p:spPr>
          <a:xfrm>
            <a:off x="685800" y="18516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pares aceptados</a:t>
            </a:r>
            <a:endParaRPr lang="en-US" sz="1400" dirty="0"/>
          </a:p>
        </p:txBody>
      </p:sp>
      <p:sp>
        <p:nvSpPr>
          <p:cNvPr id="7" name="Dominios tarjeta"/>
          <p:cNvSpPr/>
          <p:nvPr/>
        </p:nvSpPr>
        <p:spPr>
          <a:xfrm>
            <a:off x="3337560" y="1188720"/>
            <a:ext cx="246888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Dominios cifra"/>
          <p:cNvSpPr txBox="1"/>
          <p:nvPr/>
        </p:nvSpPr>
        <p:spPr>
          <a:xfrm>
            <a:off x="3474720" y="1280160"/>
            <a:ext cx="219456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400" dirty="0"/>
          </a:p>
        </p:txBody>
      </p:sp>
      <p:sp>
        <p:nvSpPr>
          <p:cNvPr id="9" name="Dominios etiqueta"/>
          <p:cNvSpPr txBox="1"/>
          <p:nvPr/>
        </p:nvSpPr>
        <p:spPr>
          <a:xfrm>
            <a:off x="3474720" y="18516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dominios de entrenamiento</a:t>
            </a:r>
            <a:endParaRPr lang="en-US" sz="1400" dirty="0"/>
          </a:p>
        </p:txBody>
      </p:sp>
      <p:sp>
        <p:nvSpPr>
          <p:cNvPr id="10" name="Preguntas tarjeta"/>
          <p:cNvSpPr/>
          <p:nvPr/>
        </p:nvSpPr>
        <p:spPr>
          <a:xfrm>
            <a:off x="6126480" y="1188720"/>
            <a:ext cx="246888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Preguntas cifra"/>
          <p:cNvSpPr txBox="1"/>
          <p:nvPr/>
        </p:nvSpPr>
        <p:spPr>
          <a:xfrm>
            <a:off x="6263640" y="1280160"/>
            <a:ext cx="219456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3400" dirty="0"/>
          </a:p>
        </p:txBody>
      </p:sp>
      <p:sp>
        <p:nvSpPr>
          <p:cNvPr id="12" name="Preguntas etiqueta"/>
          <p:cNvSpPr txBox="1"/>
          <p:nvPr/>
        </p:nvSpPr>
        <p:spPr>
          <a:xfrm>
            <a:off x="6263640" y="18516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preguntas de validación</a:t>
            </a:r>
            <a:endParaRPr lang="en-US" sz="1400" dirty="0"/>
          </a:p>
        </p:txBody>
      </p:sp>
      <p:graphicFrame>
        <p:nvGraphicFramePr>
          <p:cNvPr id="4" name="Tabla de nivel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51760"/>
          <a:ext cx="40233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371600"/>
                <a:gridCol w="118872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Nivel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7F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Entrenamiento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7F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Validación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7F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Fácil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1,086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Medio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891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Difícil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1,046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4" name="Notas de datos"/>
          <p:cNvSpPr txBox="1"/>
          <p:nvPr/>
        </p:nvSpPr>
        <p:spPr>
          <a:xfrm>
            <a:off x="4937760" y="260604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Hotel y fútbol se reservaron para validación y no aparecen en entrenamiento.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79 descartes: 75 por resultado vacío y 4 por más de 500 filas.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Validado en MySQL 8.4.10 con ONLY_FULL_GROUP_BY.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Cómo se mide la exactitud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Fuente: evaluador.py, resultados/oraculo.json</a:t>
            </a:r>
            <a:endParaRPr lang="en-US" sz="1000" dirty="0"/>
          </a:p>
        </p:txBody>
      </p:sp>
      <p:sp>
        <p:nvSpPr>
          <p:cNvPr id="4" name="Fórmula tarjeta"/>
          <p:cNvSpPr/>
          <p:nvPr/>
        </p:nvSpPr>
        <p:spPr>
          <a:xfrm>
            <a:off x="548640" y="1188720"/>
            <a:ext cx="512064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Fórmula"/>
          <p:cNvSpPr txBox="1"/>
          <p:nvPr/>
        </p:nvSpPr>
        <p:spPr>
          <a:xfrm>
            <a:off x="731520" y="118872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 = </a:t>
            </a:r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suma de pesos acertados / suma de pesos</a:t>
            </a:r>
            <a:endParaRPr lang="en-US" sz="1700" dirty="0"/>
          </a:p>
        </p:txBody>
      </p:sp>
      <p:sp>
        <p:nvSpPr>
          <p:cNvPr id="6" name="Reglas de comparación"/>
          <p:cNvSpPr txBox="1"/>
          <p:nvPr/>
        </p:nvSpPr>
        <p:spPr>
          <a:xfrm>
            <a:off x="548640" y="251460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 comparan los resultados ejecutados de las consultas.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Pesos 1, 2 y 3 (fácil, medio, difícil); total 82.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Los números se redondean a dos decimales.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El orden cuenta solo cuando se solicita; se permiten columnas adicionales.</a:t>
            </a:r>
            <a:endParaRPr lang="en-US" sz="1500" dirty="0"/>
          </a:p>
        </p:txBody>
      </p:sp>
      <p:sp>
        <p:nvSpPr>
          <p:cNvPr id="7" name="Oráculo tarjeta"/>
          <p:cNvSpPr/>
          <p:nvPr/>
        </p:nvSpPr>
        <p:spPr>
          <a:xfrm>
            <a:off x="6035040" y="1188720"/>
            <a:ext cx="2560320" cy="324612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Oráculo cifra"/>
          <p:cNvSpPr txBox="1"/>
          <p:nvPr/>
        </p:nvSpPr>
        <p:spPr>
          <a:xfrm>
            <a:off x="6172200" y="14173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1.000</a:t>
            </a:r>
            <a:endParaRPr lang="en-US" sz="4400" dirty="0"/>
          </a:p>
        </p:txBody>
      </p:sp>
      <p:sp>
        <p:nvSpPr>
          <p:cNvPr id="9" name="Oráculo título"/>
          <p:cNvSpPr txBox="1"/>
          <p:nvPr/>
        </p:nvSpPr>
        <p:spPr>
          <a:xfrm>
            <a:off x="6172200" y="2423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EX del oráculo</a:t>
            </a:r>
            <a:endParaRPr lang="en-US" sz="1600" dirty="0"/>
          </a:p>
        </p:txBody>
      </p:sp>
      <p:sp>
        <p:nvSpPr>
          <p:cNvPr id="10" name="Oráculo nota"/>
          <p:cNvSpPr txBox="1"/>
          <p:nvPr/>
        </p:nvSpPr>
        <p:spPr>
          <a:xfrm>
            <a:off x="6217920" y="29260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Comprueba el evaluador; no representa el rendimiento del modelo.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Diseño experimental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Fuente: experimentos.md, configuraciones/, resultados/lora_r8/resumen.json, resultados/lora_r16/resumen.json</a:t>
            </a:r>
            <a:endParaRPr lang="en-US" sz="1000" dirty="0"/>
          </a:p>
        </p:txBody>
      </p:sp>
      <p:graphicFrame>
        <p:nvGraphicFramePr>
          <p:cNvPr id="6" name="Tabla de rango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48463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71600"/>
                <a:gridCol w="13716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7F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Rango 8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7F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Rango 16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7F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Parámetros entrenables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540,672</a:t>
                      </a:r>
                      <a:endParaRPr lang="en-US" sz="16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1,081,344</a:t>
                      </a:r>
                      <a:endParaRPr lang="en-US" sz="16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Pasos / ejemplos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76 / 304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76 / 304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Entrenamiento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37.1 min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41.0 min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Nota de tabla"/>
          <p:cNvSpPr txBox="1"/>
          <p:nvPr/>
        </p:nvSpPr>
        <p:spPr>
          <a:xfrm>
            <a:off x="548640" y="32918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Tiempo de entrenamiento; no corresponde a inferencia. Ejemplos procesados del corpus de 3,023 pares.</a:t>
            </a:r>
            <a:endParaRPr lang="en-US" sz="1200" dirty="0"/>
          </a:p>
        </p:txBody>
      </p:sp>
      <p:sp>
        <p:nvSpPr>
          <p:cNvPr id="6" name="Constantes tarjeta"/>
          <p:cNvSpPr/>
          <p:nvPr/>
        </p:nvSpPr>
        <p:spPr>
          <a:xfrm>
            <a:off x="5760720" y="1188720"/>
            <a:ext cx="2834640" cy="256032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Constantes texto"/>
          <p:cNvSpPr txBox="1"/>
          <p:nvPr/>
        </p:nvSpPr>
        <p:spPr>
          <a:xfrm>
            <a:off x="5943600" y="1280160"/>
            <a:ext cx="2560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Se mantiene igual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Base NF4 / FP16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alpha 16 · dropout 0.05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q_proj y v_proj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Tasa 0.0002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Misma semilla y orden</a:t>
            </a:r>
            <a:endParaRPr lang="en-US" sz="1400" dirty="0"/>
          </a:p>
        </p:txBody>
      </p:sp>
      <p:sp>
        <p:nvSpPr>
          <p:cNvPr id="8" name="Hipótesis tarjeta"/>
          <p:cNvSpPr/>
          <p:nvPr/>
        </p:nvSpPr>
        <p:spPr>
          <a:xfrm>
            <a:off x="548640" y="3840480"/>
            <a:ext cx="804672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Hipótesis texto"/>
          <p:cNvSpPr txBox="1"/>
          <p:nvPr/>
        </p:nvSpPr>
        <p:spPr>
          <a:xfrm>
            <a:off x="731520" y="38404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Hipótesis previa: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más rango podría representar más relaciones; menos rango podría reducir el sobreajuste.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Curvas de entrenamiento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Fuente: resultados/lora_r8/loss.csv, resultados/lora_r16/loss.csv</a:t>
            </a:r>
            <a:endParaRPr lang="en-US" sz="1000" dirty="0"/>
          </a:p>
        </p:txBody>
      </p:sp>
      <p:pic>
        <p:nvPicPr>
          <p:cNvPr id="4" name="Curvas de loss" descr="Loss sobre SQL por paso de optimización para los rangos 8 y 1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43000"/>
            <a:ext cx="8046720" cy="2816352"/>
          </a:xfrm>
          <a:prstGeom prst="rect">
            <a:avLst/>
          </a:prstGeom>
        </p:spPr>
      </p:pic>
      <p:sp>
        <p:nvSpPr>
          <p:cNvPr id="5" name="Idea 1 tarjeta"/>
          <p:cNvSpPr/>
          <p:nvPr/>
        </p:nvSpPr>
        <p:spPr>
          <a:xfrm>
            <a:off x="548640" y="4069080"/>
            <a:ext cx="3931920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Idea 1"/>
          <p:cNvSpPr txBox="1"/>
          <p:nvPr/>
        </p:nvSpPr>
        <p:spPr>
          <a:xfrm>
            <a:off x="685800" y="40690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 pérdida se calcula solo sobre la respuesta SQL.</a:t>
            </a:r>
            <a:endParaRPr lang="en-US" sz="1300" dirty="0"/>
          </a:p>
        </p:txBody>
      </p:sp>
      <p:sp>
        <p:nvSpPr>
          <p:cNvPr id="7" name="Idea 2 tarjeta"/>
          <p:cNvSpPr/>
          <p:nvPr/>
        </p:nvSpPr>
        <p:spPr>
          <a:xfrm>
            <a:off x="4663440" y="4069080"/>
            <a:ext cx="3931920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Idea 2"/>
          <p:cNvSpPr txBox="1"/>
          <p:nvPr/>
        </p:nvSpPr>
        <p:spPr>
          <a:xfrm>
            <a:off x="4800600" y="40690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Una pérdida menor no garantiza mayor EX en esquemas nuevos.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Resultados principales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Fuente: resultados/baseline.json, resultados/lora_r8.json, README.md</a:t>
            </a:r>
            <a:endParaRPr lang="en-US" sz="1000" dirty="0"/>
          </a:p>
        </p:txBody>
      </p:sp>
      <p:graphicFrame>
        <p:nvGraphicFramePr>
          <p:cNvPr id="4" name="Gráfico EX" descr=""/>
          <p:cNvGraphicFramePr/>
          <p:nvPr/>
        </p:nvGraphicFramePr>
        <p:xfrm>
          <a:off x="548640" y="1143000"/>
          <a:ext cx="512064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Mejora tarjeta"/>
          <p:cNvSpPr/>
          <p:nvPr/>
        </p:nvSpPr>
        <p:spPr>
          <a:xfrm>
            <a:off x="6035040" y="1188720"/>
            <a:ext cx="256032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Mejora cifra"/>
          <p:cNvSpPr txBox="1"/>
          <p:nvPr/>
        </p:nvSpPr>
        <p:spPr>
          <a:xfrm>
            <a:off x="6172200" y="1280160"/>
            <a:ext cx="22860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+15.9 pp</a:t>
            </a:r>
            <a:endParaRPr lang="en-US" sz="3200" dirty="0"/>
          </a:p>
        </p:txBody>
      </p:sp>
      <p:sp>
        <p:nvSpPr>
          <p:cNvPr id="7" name="Mejora etiqueta"/>
          <p:cNvSpPr txBox="1"/>
          <p:nvPr/>
        </p:nvSpPr>
        <p:spPr>
          <a:xfrm>
            <a:off x="6172200" y="1984248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rango 8 frente al baseline, sin reparación</a:t>
            </a:r>
            <a:endParaRPr lang="en-US" sz="1400" dirty="0"/>
          </a:p>
        </p:txBody>
      </p:sp>
      <p:sp>
        <p:nvSpPr>
          <p:cNvPr id="8" name="Selección tarjeta"/>
          <p:cNvSpPr/>
          <p:nvPr/>
        </p:nvSpPr>
        <p:spPr>
          <a:xfrm>
            <a:off x="6035040" y="2743200"/>
            <a:ext cx="256032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elección texto"/>
          <p:cNvSpPr txBox="1"/>
          <p:nvPr/>
        </p:nvSpPr>
        <p:spPr>
          <a:xfrm>
            <a:off x="6172200" y="27432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Seleccionado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QLoRA rango 8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EX 43.9%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Experimento de reparación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Fuente: README.md, experimentos.md, resultados/lora_r8.json</a:t>
            </a:r>
            <a:endParaRPr lang="en-US" sz="1000" dirty="0"/>
          </a:p>
        </p:txBody>
      </p:sp>
      <p:graphicFrame>
        <p:nvGraphicFramePr>
          <p:cNvPr id="9" name="Tabla de reparació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51206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914400"/>
                <a:gridCol w="914400"/>
                <a:gridCol w="155448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Inferencia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7F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EX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7F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Aciertos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7F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Tiempo medio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7F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Sin reparación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0.439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21/40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11.49 s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Con reparación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0.427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21/40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13.20 s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Decisión tarjeta"/>
          <p:cNvSpPr/>
          <p:nvPr/>
        </p:nvSpPr>
        <p:spPr>
          <a:xfrm>
            <a:off x="6035040" y="1188720"/>
            <a:ext cx="256032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Decisión texto"/>
          <p:cNvSpPr txBox="1"/>
          <p:nvPr/>
        </p:nvSpPr>
        <p:spPr>
          <a:xfrm>
            <a:off x="6172200" y="1188720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Entrega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Reparación desactivada</a:t>
            </a:r>
            <a:endParaRPr lang="en-US" sz="1400" dirty="0"/>
          </a:p>
        </p:txBody>
      </p:sp>
      <p:sp>
        <p:nvSpPr>
          <p:cNvPr id="7" name="Paso 1 tarjeta"/>
          <p:cNvSpPr/>
          <p:nvPr/>
        </p:nvSpPr>
        <p:spPr>
          <a:xfrm>
            <a:off x="548640" y="2697480"/>
            <a:ext cx="393192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Paso 1 círculo"/>
          <p:cNvSpPr/>
          <p:nvPr/>
        </p:nvSpPr>
        <p:spPr>
          <a:xfrm>
            <a:off x="685800" y="28803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Paso 1 número"/>
          <p:cNvSpPr txBox="1"/>
          <p:nvPr/>
        </p:nvSpPr>
        <p:spPr>
          <a:xfrm>
            <a:off x="68580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Paso 1 texto"/>
          <p:cNvSpPr txBox="1"/>
          <p:nvPr/>
        </p:nvSpPr>
        <p:spPr>
          <a:xfrm>
            <a:off x="1280160" y="26974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Corrección conservadora de identificadores</a:t>
            </a:r>
            <a:endParaRPr lang="en-US" sz="1400" dirty="0"/>
          </a:p>
        </p:txBody>
      </p:sp>
      <p:sp>
        <p:nvSpPr>
          <p:cNvPr id="11" name="Paso 2 tarjeta"/>
          <p:cNvSpPr/>
          <p:nvPr/>
        </p:nvSpPr>
        <p:spPr>
          <a:xfrm>
            <a:off x="4663440" y="2697480"/>
            <a:ext cx="393192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Paso 2 círculo"/>
          <p:cNvSpPr/>
          <p:nvPr/>
        </p:nvSpPr>
        <p:spPr>
          <a:xfrm>
            <a:off x="4800600" y="28803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Paso 2 número"/>
          <p:cNvSpPr txBox="1"/>
          <p:nvPr/>
        </p:nvSpPr>
        <p:spPr>
          <a:xfrm>
            <a:off x="480060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Paso 2 texto"/>
          <p:cNvSpPr txBox="1"/>
          <p:nvPr/>
        </p:nvSpPr>
        <p:spPr>
          <a:xfrm>
            <a:off x="5394960" y="26974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Regeneración con el error de MySQL</a:t>
            </a:r>
            <a:endParaRPr lang="en-US" sz="1400" dirty="0"/>
          </a:p>
        </p:txBody>
      </p:sp>
      <p:sp>
        <p:nvSpPr>
          <p:cNvPr id="15" name="Notas de reparación"/>
          <p:cNvSpPr txBox="1"/>
          <p:nvPr/>
        </p:nvSpPr>
        <p:spPr>
          <a:xfrm>
            <a:off x="548640" y="37033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Hasta dos llamadas de diagnóstico y presupuesto conjunto de 25 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Una consulta ejecutable puede seguir respondiendo mal; la regeneración puede quedar incompleta bajo el límite de tiempo.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Análisis de errores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Fuente: resultados/revision_errores.csv, resultados/lora_r8.csv</a:t>
            </a:r>
            <a:endParaRPr lang="en-US" sz="1000" dirty="0"/>
          </a:p>
        </p:txBody>
      </p:sp>
      <p:graphicFrame>
        <p:nvGraphicFramePr>
          <p:cNvPr id="4" name="Gráfico de errores" descr=""/>
          <p:cNvGraphicFramePr/>
          <p:nvPr/>
        </p:nvGraphicFramePr>
        <p:xfrm>
          <a:off x="548640" y="1143000"/>
          <a:ext cx="420624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Ejemplo 1 tarjeta"/>
          <p:cNvSpPr/>
          <p:nvPr/>
        </p:nvSpPr>
        <p:spPr>
          <a:xfrm>
            <a:off x="5029200" y="1188720"/>
            <a:ext cx="35661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Ejemplo 1 texto"/>
          <p:cNvSpPr txBox="1"/>
          <p:nvPr/>
        </p:nvSpPr>
        <p:spPr>
          <a:xfrm>
            <a:off x="5166360" y="1188720"/>
            <a:ext cx="3337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Tabla inexistente (v01)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760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Pred: FROM HOTELS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Ref:  FROM hoteles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Se usó HOTELS en lugar de hoteles.</a:t>
            </a:r>
            <a:endParaRPr lang="en-US" sz="1400" dirty="0"/>
          </a:p>
        </p:txBody>
      </p:sp>
      <p:sp>
        <p:nvSpPr>
          <p:cNvPr id="7" name="Ejemplo 2 tarjeta"/>
          <p:cNvSpPr/>
          <p:nvPr/>
        </p:nvSpPr>
        <p:spPr>
          <a:xfrm>
            <a:off x="5029200" y="2926080"/>
            <a:ext cx="35661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Ejemplo 2 texto"/>
          <p:cNvSpPr txBox="1"/>
          <p:nvPr/>
        </p:nvSpPr>
        <p:spPr>
          <a:xfrm>
            <a:off x="5166360" y="2926080"/>
            <a:ext cx="3337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Agregación (v08)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760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Pred: HAVING COUNT(*) &gt; 15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Ref:  HAVING SUM(r.noches) &gt; 15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Se contó en lugar de sumar noches.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Verificación de inferencia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Fuente: README.md, BITACORA.md</a:t>
            </a:r>
            <a:endParaRPr lang="en-US" sz="1000" dirty="0"/>
          </a:p>
        </p:txBody>
      </p:sp>
      <p:sp>
        <p:nvSpPr>
          <p:cNvPr id="4" name="Carga tarjeta"/>
          <p:cNvSpPr/>
          <p:nvPr/>
        </p:nvSpPr>
        <p:spPr>
          <a:xfrm>
            <a:off x="548640" y="1188720"/>
            <a:ext cx="246888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arga cifra"/>
          <p:cNvSpPr txBox="1"/>
          <p:nvPr/>
        </p:nvSpPr>
        <p:spPr>
          <a:xfrm>
            <a:off x="685800" y="1280160"/>
            <a:ext cx="219456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6.37 s</a:t>
            </a:r>
            <a:endParaRPr lang="en-US" sz="3400" dirty="0"/>
          </a:p>
        </p:txBody>
      </p:sp>
      <p:sp>
        <p:nvSpPr>
          <p:cNvPr id="6" name="Carga etiqueta"/>
          <p:cNvSpPr txBox="1"/>
          <p:nvPr/>
        </p:nvSpPr>
        <p:spPr>
          <a:xfrm>
            <a:off x="685800" y="1878178"/>
            <a:ext cx="219456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carga del modelo</a:t>
            </a:r>
            <a:endParaRPr lang="en-US" sz="1400" dirty="0"/>
          </a:p>
        </p:txBody>
      </p:sp>
      <p:sp>
        <p:nvSpPr>
          <p:cNvPr id="7" name="Casos tarjeta"/>
          <p:cNvSpPr/>
          <p:nvPr/>
        </p:nvSpPr>
        <p:spPr>
          <a:xfrm>
            <a:off x="3337560" y="1188720"/>
            <a:ext cx="246888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Casos cifra"/>
          <p:cNvSpPr txBox="1"/>
          <p:nvPr/>
        </p:nvSpPr>
        <p:spPr>
          <a:xfrm>
            <a:off x="3474720" y="1280160"/>
            <a:ext cx="219456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de 3</a:t>
            </a:r>
            <a:endParaRPr lang="en-US" sz="3400" dirty="0"/>
          </a:p>
        </p:txBody>
      </p:sp>
      <p:sp>
        <p:nvSpPr>
          <p:cNvPr id="9" name="Casos etiqueta"/>
          <p:cNvSpPr txBox="1"/>
          <p:nvPr/>
        </p:nvSpPr>
        <p:spPr>
          <a:xfrm>
            <a:off x="3474720" y="1878178"/>
            <a:ext cx="219456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casos repetidos cumplidos</a:t>
            </a:r>
            <a:endParaRPr lang="en-US" sz="1400" dirty="0"/>
          </a:p>
        </p:txBody>
      </p:sp>
      <p:sp>
        <p:nvSpPr>
          <p:cNvPr id="10" name="Pruebas tarjeta"/>
          <p:cNvSpPr/>
          <p:nvPr/>
        </p:nvSpPr>
        <p:spPr>
          <a:xfrm>
            <a:off x="6126480" y="1188720"/>
            <a:ext cx="246888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Pruebas cifra"/>
          <p:cNvSpPr txBox="1"/>
          <p:nvPr/>
        </p:nvSpPr>
        <p:spPr>
          <a:xfrm>
            <a:off x="6263640" y="1280160"/>
            <a:ext cx="219456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3400" dirty="0"/>
          </a:p>
        </p:txBody>
      </p:sp>
      <p:sp>
        <p:nvSpPr>
          <p:cNvPr id="12" name="Pruebas etiqueta"/>
          <p:cNvSpPr txBox="1"/>
          <p:nvPr/>
        </p:nvSpPr>
        <p:spPr>
          <a:xfrm>
            <a:off x="6263640" y="1878178"/>
            <a:ext cx="219456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pruebas automatizadas aprobadas</a:t>
            </a:r>
            <a:endParaRPr lang="en-US" sz="1400" dirty="0"/>
          </a:p>
        </p:txBody>
      </p:sp>
      <p:sp>
        <p:nvSpPr>
          <p:cNvPr id="13" name="Control 1"/>
          <p:cNvSpPr/>
          <p:nvPr/>
        </p:nvSpPr>
        <p:spPr>
          <a:xfrm>
            <a:off x="548640" y="2697480"/>
            <a:ext cx="1874520" cy="64008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Control 1 texto"/>
          <p:cNvSpPr txBox="1"/>
          <p:nvPr/>
        </p:nvSpPr>
        <p:spPr>
          <a:xfrm>
            <a:off x="548640" y="26974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✓ Determinismo</a:t>
            </a:r>
            <a:endParaRPr lang="en-US" sz="1400" dirty="0"/>
          </a:p>
        </p:txBody>
      </p:sp>
      <p:sp>
        <p:nvSpPr>
          <p:cNvPr id="15" name="Control 2"/>
          <p:cNvSpPr/>
          <p:nvPr/>
        </p:nvSpPr>
        <p:spPr>
          <a:xfrm>
            <a:off x="2606040" y="2697480"/>
            <a:ext cx="1874520" cy="64008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Control 2 texto"/>
          <p:cNvSpPr txBox="1"/>
          <p:nvPr/>
        </p:nvSpPr>
        <p:spPr>
          <a:xfrm>
            <a:off x="2606040" y="26974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✓ Solo lectura</a:t>
            </a:r>
            <a:endParaRPr lang="en-US" sz="1400" dirty="0"/>
          </a:p>
        </p:txBody>
      </p:sp>
      <p:sp>
        <p:nvSpPr>
          <p:cNvPr id="17" name="Control 3"/>
          <p:cNvSpPr/>
          <p:nvPr/>
        </p:nvSpPr>
        <p:spPr>
          <a:xfrm>
            <a:off x="4663440" y="2697480"/>
            <a:ext cx="1874520" cy="64008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Control 3 texto"/>
          <p:cNvSpPr txBox="1"/>
          <p:nvPr/>
        </p:nvSpPr>
        <p:spPr>
          <a:xfrm>
            <a:off x="4663440" y="26974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✓ Límite de llamadas</a:t>
            </a:r>
            <a:endParaRPr lang="en-US" sz="1400" dirty="0"/>
          </a:p>
        </p:txBody>
      </p:sp>
      <p:sp>
        <p:nvSpPr>
          <p:cNvPr id="19" name="Control 4"/>
          <p:cNvSpPr/>
          <p:nvPr/>
        </p:nvSpPr>
        <p:spPr>
          <a:xfrm>
            <a:off x="6720840" y="2697480"/>
            <a:ext cx="1874520" cy="64008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Control 4 texto"/>
          <p:cNvSpPr txBox="1"/>
          <p:nvPr/>
        </p:nvSpPr>
        <p:spPr>
          <a:xfrm>
            <a:off x="6720840" y="26974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✓ Límite de tiempo</a:t>
            </a:r>
            <a:endParaRPr lang="en-US" sz="1400" dirty="0"/>
          </a:p>
        </p:txBody>
      </p:sp>
      <p:sp>
        <p:nvSpPr>
          <p:cNvPr id="21" name="Aclaración de hardware"/>
          <p:cNvSpPr txBox="1"/>
          <p:nvPr/>
        </p:nvSpPr>
        <p:spPr>
          <a:xfrm>
            <a:off x="548640" y="36576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Las mediciones corresponden a la GPU local MX350 y no acreditan una prueba en Colab T4.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Conclusiones y predicción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Fuente: README.md, resultados/lora_r8.json</a:t>
            </a:r>
            <a:endParaRPr lang="en-US" sz="1000" dirty="0"/>
          </a:p>
        </p:txBody>
      </p:sp>
      <p:sp>
        <p:nvSpPr>
          <p:cNvPr id="4" name="Adapter tarjeta"/>
          <p:cNvSpPr/>
          <p:nvPr/>
        </p:nvSpPr>
        <p:spPr>
          <a:xfrm>
            <a:off x="548640" y="1143000"/>
            <a:ext cx="182880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Adapter cifra"/>
          <p:cNvSpPr txBox="1"/>
          <p:nvPr/>
        </p:nvSpPr>
        <p:spPr>
          <a:xfrm>
            <a:off x="685800" y="1234440"/>
            <a:ext cx="155448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Rango 8</a:t>
            </a:r>
            <a:endParaRPr lang="en-US" sz="2400" dirty="0"/>
          </a:p>
        </p:txBody>
      </p:sp>
      <p:sp>
        <p:nvSpPr>
          <p:cNvPr id="6" name="Adapter etiqueta"/>
          <p:cNvSpPr txBox="1"/>
          <p:nvPr/>
        </p:nvSpPr>
        <p:spPr>
          <a:xfrm>
            <a:off x="685800" y="18059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adapter elegido</a:t>
            </a:r>
            <a:endParaRPr lang="en-US" sz="1400" dirty="0"/>
          </a:p>
        </p:txBody>
      </p:sp>
      <p:sp>
        <p:nvSpPr>
          <p:cNvPr id="7" name="Estrategia tarjeta"/>
          <p:cNvSpPr/>
          <p:nvPr/>
        </p:nvSpPr>
        <p:spPr>
          <a:xfrm>
            <a:off x="2560320" y="1143000"/>
            <a:ext cx="182880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Estrategia cifra"/>
          <p:cNvSpPr txBox="1"/>
          <p:nvPr/>
        </p:nvSpPr>
        <p:spPr>
          <a:xfrm>
            <a:off x="2697480" y="1234440"/>
            <a:ext cx="155448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reparación</a:t>
            </a:r>
            <a:endParaRPr lang="en-US" sz="1800" dirty="0"/>
          </a:p>
        </p:txBody>
      </p:sp>
      <p:sp>
        <p:nvSpPr>
          <p:cNvPr id="9" name="Estrategia etiqueta"/>
          <p:cNvSpPr txBox="1"/>
          <p:nvPr/>
        </p:nvSpPr>
        <p:spPr>
          <a:xfrm>
            <a:off x="2697480" y="18059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estrategia elegida</a:t>
            </a:r>
            <a:endParaRPr lang="en-US" sz="1400" dirty="0"/>
          </a:p>
        </p:txBody>
      </p:sp>
      <p:sp>
        <p:nvSpPr>
          <p:cNvPr id="10" name="EX propia tarjeta"/>
          <p:cNvSpPr/>
          <p:nvPr/>
        </p:nvSpPr>
        <p:spPr>
          <a:xfrm>
            <a:off x="4572000" y="1143000"/>
            <a:ext cx="182880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EX propia cifra"/>
          <p:cNvSpPr txBox="1"/>
          <p:nvPr/>
        </p:nvSpPr>
        <p:spPr>
          <a:xfrm>
            <a:off x="4709160" y="1234440"/>
            <a:ext cx="155448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0.439</a:t>
            </a:r>
            <a:endParaRPr lang="en-US" sz="3000" dirty="0"/>
          </a:p>
        </p:txBody>
      </p:sp>
      <p:sp>
        <p:nvSpPr>
          <p:cNvPr id="12" name="EX propia etiqueta"/>
          <p:cNvSpPr txBox="1"/>
          <p:nvPr/>
        </p:nvSpPr>
        <p:spPr>
          <a:xfrm>
            <a:off x="4709160" y="18059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 propia final</a:t>
            </a:r>
            <a:endParaRPr lang="en-US" sz="1400" dirty="0"/>
          </a:p>
        </p:txBody>
      </p:sp>
      <p:sp>
        <p:nvSpPr>
          <p:cNvPr id="13" name="EX oculta tarjeta"/>
          <p:cNvSpPr/>
          <p:nvPr/>
        </p:nvSpPr>
        <p:spPr>
          <a:xfrm>
            <a:off x="6583680" y="1143000"/>
            <a:ext cx="201168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EX oculta cifra"/>
          <p:cNvSpPr txBox="1"/>
          <p:nvPr/>
        </p:nvSpPr>
        <p:spPr>
          <a:xfrm>
            <a:off x="6720840" y="1234440"/>
            <a:ext cx="173736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0.35</a:t>
            </a:r>
            <a:endParaRPr lang="en-US" sz="3000" dirty="0"/>
          </a:p>
        </p:txBody>
      </p:sp>
      <p:sp>
        <p:nvSpPr>
          <p:cNvPr id="15" name="EX oculta etiqueta"/>
          <p:cNvSpPr txBox="1"/>
          <p:nvPr/>
        </p:nvSpPr>
        <p:spPr>
          <a:xfrm>
            <a:off x="6720840" y="18059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 oculta estimada</a:t>
            </a:r>
            <a:endParaRPr lang="en-US" sz="1400" dirty="0"/>
          </a:p>
        </p:txBody>
      </p:sp>
      <p:sp>
        <p:nvSpPr>
          <p:cNvPr id="16" name="Nota de estimación"/>
          <p:cNvSpPr txBox="1"/>
          <p:nvPr/>
        </p:nvSpPr>
        <p:spPr>
          <a:xfrm>
            <a:off x="548640" y="24231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 estimación aplica un descuento relativo heurístico del 20%; no es una medición oficial ni un intervalo de confianza.</a:t>
            </a:r>
            <a:endParaRPr lang="en-US" sz="1400" dirty="0"/>
          </a:p>
        </p:txBody>
      </p:sp>
      <p:sp>
        <p:nvSpPr>
          <p:cNvPr id="17" name="Título de límites"/>
          <p:cNvSpPr txBox="1"/>
          <p:nvPr/>
        </p:nvSpPr>
        <p:spPr>
          <a:xfrm>
            <a:off x="548640" y="3108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Límites</a:t>
            </a:r>
            <a:endParaRPr lang="en-US" sz="1600" dirty="0"/>
          </a:p>
        </p:txBody>
      </p:sp>
      <p:sp>
        <p:nvSpPr>
          <p:cNvPr id="18" name="Límite 1 tarjeta"/>
          <p:cNvSpPr/>
          <p:nvPr/>
        </p:nvSpPr>
        <p:spPr>
          <a:xfrm>
            <a:off x="548640" y="3520440"/>
            <a:ext cx="256032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Límite 1"/>
          <p:cNvSpPr txBox="1"/>
          <p:nvPr/>
        </p:nvSpPr>
        <p:spPr>
          <a:xfrm>
            <a:off x="685800" y="352044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Datos basados en plantillas</a:t>
            </a:r>
            <a:endParaRPr lang="en-US" sz="1400" dirty="0"/>
          </a:p>
        </p:txBody>
      </p:sp>
      <p:sp>
        <p:nvSpPr>
          <p:cNvPr id="20" name="Límite 2 tarjeta"/>
          <p:cNvSpPr/>
          <p:nvPr/>
        </p:nvSpPr>
        <p:spPr>
          <a:xfrm>
            <a:off x="3291840" y="3520440"/>
            <a:ext cx="256032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Límite 2"/>
          <p:cNvSpPr txBox="1"/>
          <p:nvPr/>
        </p:nvSpPr>
        <p:spPr>
          <a:xfrm>
            <a:off x="3429000" y="352044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Solo dos dominios de validación</a:t>
            </a:r>
            <a:endParaRPr lang="en-US" sz="1400" dirty="0"/>
          </a:p>
        </p:txBody>
      </p:sp>
      <p:sp>
        <p:nvSpPr>
          <p:cNvPr id="22" name="Límite 3 tarjeta"/>
          <p:cNvSpPr/>
          <p:nvPr/>
        </p:nvSpPr>
        <p:spPr>
          <a:xfrm>
            <a:off x="6035040" y="3520440"/>
            <a:ext cx="256032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Límite 3"/>
          <p:cNvSpPr txBox="1"/>
          <p:nvPr/>
        </p:nvSpPr>
        <p:spPr>
          <a:xfrm>
            <a:off x="6172200" y="352044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304 ejemplos de entrenamiento por configuración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xt-to-SQL">
  <a:themeElements>
    <a:clrScheme name="Text-to-SQL">
      <a:dk1>
        <a:srgbClr val="1F2A33"/>
      </a:dk1>
      <a:lt1>
        <a:srgbClr val="FFFFFF"/>
      </a:lt1>
      <a:dk2>
        <a:srgbClr val="0B5C6B"/>
      </a:dk2>
      <a:lt2>
        <a:srgbClr val="EEF4F6"/>
      </a:lt2>
      <a:accent1>
        <a:srgbClr val="007F92"/>
      </a:accent1>
      <a:accent2>
        <a:srgbClr val="C76035"/>
      </a:accent2>
      <a:accent3>
        <a:srgbClr val="55656F"/>
      </a:accent3>
      <a:accent4>
        <a:srgbClr val="9CC9D1"/>
      </a:accent4>
      <a:accent5>
        <a:srgbClr val="B5483A"/>
      </a:accent5>
      <a:accent6>
        <a:srgbClr val="3E7C59"/>
      </a:accent6>
      <a:hlink>
        <a:srgbClr val="007F92"/>
      </a:hlink>
      <a:folHlink>
        <a:srgbClr val="55656F"/>
      </a:folHlink>
    </a:clrScheme>
    <a:fontScheme name="Text-to-SQ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Text-to-SQL con QLoRA</dc:title>
  <dc:subject>PptxGenJS Presentation</dc:subject>
  <dc:creator>Nina Nájera y Alejandro Antón</dc:creator>
  <cp:lastModifiedBy>Nina Nájera y Alejandro Antón</cp:lastModifiedBy>
  <cp:revision>1</cp:revision>
  <dcterms:created xsi:type="dcterms:W3CDTF">2026-10-26T06:04:48Z</dcterms:created>
  <dcterms:modified xsi:type="dcterms:W3CDTF">2026-10-26T06:04:48Z</dcterms:modified>
</cp:coreProperties>
</file>