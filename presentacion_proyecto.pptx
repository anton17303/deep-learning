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 Text-to-SQL" id="{B1E1A072-CC33-A450-5233-03067C59C14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3"/>
                </a:solidFill>
                <a:latin typeface="+mn-lt"/>
              </a:defRPr>
            </a:pPr>
            <a:r>
              <a:rPr lang="es-GT" sz="1400" b="0" i="0" u="none" strike="noStrike">
                <a:solidFill>
                  <a:srgbClr val="1F2A33"/>
                </a:solidFill>
                <a:latin typeface="+mn-lt"/>
              </a:rPr>
              <a:t>EX ponderada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 ponderada (%)</c:v>
                </c:pt>
              </c:strCache>
            </c:strRef>
          </c:tx>
          <c:spPr>
            <a:solidFill>
              <a:srgbClr val="9AA7A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B7E-43C7-969C-AB2733B2CE4A}"/>
              </c:ext>
            </c:extLst>
          </c:dPt>
          <c:dPt>
            <c:idx val="1"/>
            <c:invertIfNegative val="0"/>
            <c:bubble3D val="0"/>
            <c:spPr>
              <a:solidFill>
                <a:srgbClr val="007F9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B7E-43C7-969C-AB2733B2CE4A}"/>
              </c:ext>
            </c:extLst>
          </c:dPt>
          <c:dPt>
            <c:idx val="2"/>
            <c:invertIfNegative val="0"/>
            <c:bubble3D val="0"/>
            <c:spPr>
              <a:solidFill>
                <a:srgbClr val="0B5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B7E-43C7-969C-AB2733B2CE4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1F2A33"/>
                    </a:solidFill>
                    <a:latin typeface="+mn-lt"/>
                  </a:defRPr>
                </a:pPr>
                <a:endParaRPr lang="es-G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 NF4</c:v>
                </c:pt>
                <c:pt idx="1">
                  <c:v>R8 inicial</c:v>
                </c:pt>
                <c:pt idx="2">
                  <c:v>R16 inicial</c:v>
                </c:pt>
                <c:pt idx="3">
                  <c:v>R8 completo</c:v>
                </c:pt>
                <c:pt idx="4">
                  <c:v>R16 completo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28.0</c:v>
                </c:pt>
                <c:pt idx="1">
                  <c:v>43.9</c:v>
                </c:pt>
                <c:pt idx="2">
                  <c:v>40.2</c:v>
                </c:pt>
                <c:pt idx="3">
                  <c:v>41.5</c:v>
                </c:pt>
                <c:pt idx="4">
                  <c:v>40.2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7E-43C7-969C-AB2733B2CE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5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3"/>
                </a:solidFill>
                <a:latin typeface="+mn-lt"/>
              </a:defRPr>
            </a:pPr>
            <a:r>
              <a:rPr lang="es-ES" sz="1300" b="0" i="0" u="none" strike="noStrike">
                <a:solidFill>
                  <a:srgbClr val="1F2A33"/>
                </a:solidFill>
                <a:latin typeface="+mn-lt"/>
              </a:rPr>
              <a:t>Errores de la selección final (18 de 40)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Errores</c:v>
                </c:pt>
              </c:strCache>
            </c:strRef>
          </c:tx>
          <c:spPr>
            <a:solidFill>
              <a:srgbClr val="007F9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F2A33"/>
                    </a:solidFill>
                    <a:latin typeface="+mn-lt"/>
                  </a:defRPr>
                </a:pPr>
                <a:endParaRPr lang="es-G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Tabla o columna inexistente</c:v>
                </c:pt>
                <c:pt idx="1">
                  <c:v>Agregación</c:v>
                </c:pt>
                <c:pt idx="2">
                  <c:v>Filtro</c:v>
                </c:pt>
                <c:pt idx="3">
                  <c:v>JOIN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91-4B78-B65B-0592D13204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340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 círculo grande"/>
          <p:cNvSpPr/>
          <p:nvPr/>
        </p:nvSpPr>
        <p:spPr>
          <a:xfrm>
            <a:off x="5806440" y="594360"/>
            <a:ext cx="3291840" cy="32918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" name="Motivo círculo pequeño"/>
          <p:cNvSpPr/>
          <p:nvPr/>
        </p:nvSpPr>
        <p:spPr>
          <a:xfrm>
            <a:off x="7040880" y="3291840"/>
            <a:ext cx="1371600" cy="13716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Título"/>
          <p:cNvSpPr txBox="1"/>
          <p:nvPr/>
        </p:nvSpPr>
        <p:spPr>
          <a:xfrm>
            <a:off x="640080" y="10058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Text-to-SQL con QLoRA</a:t>
            </a:r>
            <a:endParaRPr lang="en-US" sz="4400" dirty="0"/>
          </a:p>
        </p:txBody>
      </p:sp>
      <p:sp>
        <p:nvSpPr>
          <p:cNvPr id="5" name="Subtítulo"/>
          <p:cNvSpPr txBox="1"/>
          <p:nvPr/>
        </p:nvSpPr>
        <p:spPr>
          <a:xfrm>
            <a:off x="640080" y="20116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Generación de consultas MySQL a partir de preguntas en español</a:t>
            </a:r>
            <a:endParaRPr lang="en-US" sz="2200" dirty="0"/>
          </a:p>
        </p:txBody>
      </p:sp>
      <p:sp>
        <p:nvSpPr>
          <p:cNvPr id="6" name="Autores y curso"/>
          <p:cNvSpPr txBox="1"/>
          <p:nvPr/>
        </p:nvSpPr>
        <p:spPr>
          <a:xfrm>
            <a:off x="640080" y="3383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Nina Nájera y Alejandro Antón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Deep Learning · Universidad del Valle de Guatemala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Objetivo y funcionamiento</a:t>
            </a:r>
            <a:endParaRPr lang="en-US" sz="3400" dirty="0"/>
          </a:p>
        </p:txBody>
      </p:sp>
      <p:sp>
        <p:nvSpPr>
          <p:cNvPr id="4" name="Paso 1"/>
          <p:cNvSpPr/>
          <p:nvPr/>
        </p:nvSpPr>
        <p:spPr>
          <a:xfrm>
            <a:off x="54864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Paso 1 texto"/>
          <p:cNvSpPr txBox="1"/>
          <p:nvPr/>
        </p:nvSpPr>
        <p:spPr>
          <a:xfrm>
            <a:off x="64008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Esquema + pregunta</a:t>
            </a:r>
            <a:endParaRPr lang="en-US" sz="1600" dirty="0"/>
          </a:p>
        </p:txBody>
      </p:sp>
      <p:sp>
        <p:nvSpPr>
          <p:cNvPr id="6" name="Flecha 1"/>
          <p:cNvSpPr txBox="1"/>
          <p:nvPr/>
        </p:nvSpPr>
        <p:spPr>
          <a:xfrm>
            <a:off x="228600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Paso 2"/>
          <p:cNvSpPr/>
          <p:nvPr/>
        </p:nvSpPr>
        <p:spPr>
          <a:xfrm>
            <a:off x="265176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Paso 2 texto"/>
          <p:cNvSpPr txBox="1"/>
          <p:nvPr/>
        </p:nvSpPr>
        <p:spPr>
          <a:xfrm>
            <a:off x="274320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Modelo con adapter</a:t>
            </a:r>
            <a:endParaRPr lang="en-US" sz="1600" dirty="0"/>
          </a:p>
        </p:txBody>
      </p:sp>
      <p:sp>
        <p:nvSpPr>
          <p:cNvPr id="9" name="Flecha 2"/>
          <p:cNvSpPr txBox="1"/>
          <p:nvPr/>
        </p:nvSpPr>
        <p:spPr>
          <a:xfrm>
            <a:off x="438912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0" name="Paso 3"/>
          <p:cNvSpPr/>
          <p:nvPr/>
        </p:nvSpPr>
        <p:spPr>
          <a:xfrm>
            <a:off x="475488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aso 3 texto"/>
          <p:cNvSpPr txBox="1"/>
          <p:nvPr/>
        </p:nvSpPr>
        <p:spPr>
          <a:xfrm>
            <a:off x="484632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Consulta SQL</a:t>
            </a:r>
            <a:endParaRPr lang="en-US" sz="1600" dirty="0"/>
          </a:p>
        </p:txBody>
      </p:sp>
      <p:sp>
        <p:nvSpPr>
          <p:cNvPr id="12" name="Flecha 3"/>
          <p:cNvSpPr txBox="1"/>
          <p:nvPr/>
        </p:nvSpPr>
        <p:spPr>
          <a:xfrm>
            <a:off x="6492240" y="128016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Paso 4"/>
          <p:cNvSpPr/>
          <p:nvPr/>
        </p:nvSpPr>
        <p:spPr>
          <a:xfrm>
            <a:off x="685800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Paso 4 texto"/>
          <p:cNvSpPr txBox="1"/>
          <p:nvPr/>
        </p:nvSpPr>
        <p:spPr>
          <a:xfrm>
            <a:off x="6949440" y="1280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MySQL</a:t>
            </a:r>
            <a:endParaRPr lang="en-US" sz="1600" dirty="0"/>
          </a:p>
        </p:txBody>
      </p:sp>
      <p:sp>
        <p:nvSpPr>
          <p:cNvPr id="15" name="Dato Modelo"/>
          <p:cNvSpPr/>
          <p:nvPr/>
        </p:nvSpPr>
        <p:spPr>
          <a:xfrm>
            <a:off x="548640" y="265176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Dato Modelo texto"/>
          <p:cNvSpPr txBox="1"/>
          <p:nvPr/>
        </p:nvSpPr>
        <p:spPr>
          <a:xfrm>
            <a:off x="731520" y="2651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Modelo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Qwen2.5-Coder-0.5B-Instruct</a:t>
            </a:r>
            <a:endParaRPr lang="en-US" sz="1400" dirty="0"/>
          </a:p>
        </p:txBody>
      </p:sp>
      <p:sp>
        <p:nvSpPr>
          <p:cNvPr id="17" name="Dato Salida"/>
          <p:cNvSpPr/>
          <p:nvPr/>
        </p:nvSpPr>
        <p:spPr>
          <a:xfrm>
            <a:off x="4663440" y="265176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Dato Salida texto"/>
          <p:cNvSpPr txBox="1"/>
          <p:nvPr/>
        </p:nvSpPr>
        <p:spPr>
          <a:xfrm>
            <a:off x="4846320" y="2651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Salida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Una sola consulta SELECT o WITH SELECT</a:t>
            </a:r>
            <a:endParaRPr lang="en-US" sz="1400" dirty="0"/>
          </a:p>
        </p:txBody>
      </p:sp>
      <p:sp>
        <p:nvSpPr>
          <p:cNvPr id="19" name="Dato Generación"/>
          <p:cNvSpPr/>
          <p:nvPr/>
        </p:nvSpPr>
        <p:spPr>
          <a:xfrm>
            <a:off x="548640" y="365760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0" name="Dato Generación texto"/>
          <p:cNvSpPr txBox="1"/>
          <p:nvPr/>
        </p:nvSpPr>
        <p:spPr>
          <a:xfrm>
            <a:off x="731520" y="3657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Generación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Determinista, sin APIs externas</a:t>
            </a:r>
            <a:endParaRPr lang="en-US" sz="1400" dirty="0"/>
          </a:p>
        </p:txBody>
      </p:sp>
      <p:sp>
        <p:nvSpPr>
          <p:cNvPr id="21" name="Dato Límites"/>
          <p:cNvSpPr/>
          <p:nvPr/>
        </p:nvSpPr>
        <p:spPr>
          <a:xfrm>
            <a:off x="4663440" y="365760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2" name="Dato Límites texto"/>
          <p:cNvSpPr txBox="1"/>
          <p:nvPr/>
        </p:nvSpPr>
        <p:spPr>
          <a:xfrm>
            <a:off x="4846320" y="36576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Límites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300 s de carga y 30 s por pregunta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Datos y separación de esquemas</a:t>
            </a:r>
            <a:endParaRPr lang="en-US" sz="3400" dirty="0"/>
          </a:p>
        </p:txBody>
      </p:sp>
      <p:sp>
        <p:nvSpPr>
          <p:cNvPr id="4" name="Pares tarjeta"/>
          <p:cNvSpPr/>
          <p:nvPr/>
        </p:nvSpPr>
        <p:spPr>
          <a:xfrm>
            <a:off x="54864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Pares cifra"/>
          <p:cNvSpPr txBox="1"/>
          <p:nvPr/>
        </p:nvSpPr>
        <p:spPr>
          <a:xfrm>
            <a:off x="68580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3,023</a:t>
            </a:r>
            <a:endParaRPr lang="en-US" sz="3400" dirty="0"/>
          </a:p>
        </p:txBody>
      </p:sp>
      <p:sp>
        <p:nvSpPr>
          <p:cNvPr id="6" name="Pares etiqueta"/>
          <p:cNvSpPr txBox="1"/>
          <p:nvPr/>
        </p:nvSpPr>
        <p:spPr>
          <a:xfrm>
            <a:off x="68580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pares aceptados</a:t>
            </a:r>
            <a:endParaRPr lang="en-US" sz="1400" dirty="0"/>
          </a:p>
        </p:txBody>
      </p:sp>
      <p:sp>
        <p:nvSpPr>
          <p:cNvPr id="7" name="Dominios tarjeta"/>
          <p:cNvSpPr/>
          <p:nvPr/>
        </p:nvSpPr>
        <p:spPr>
          <a:xfrm>
            <a:off x="333756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Dominios cifra"/>
          <p:cNvSpPr txBox="1"/>
          <p:nvPr/>
        </p:nvSpPr>
        <p:spPr>
          <a:xfrm>
            <a:off x="347472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9" name="Dominios etiqueta"/>
          <p:cNvSpPr txBox="1"/>
          <p:nvPr/>
        </p:nvSpPr>
        <p:spPr>
          <a:xfrm>
            <a:off x="347472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dominios de entrenamiento</a:t>
            </a:r>
            <a:endParaRPr lang="en-US" sz="1400" dirty="0"/>
          </a:p>
        </p:txBody>
      </p:sp>
      <p:sp>
        <p:nvSpPr>
          <p:cNvPr id="10" name="Preguntas tarjeta"/>
          <p:cNvSpPr/>
          <p:nvPr/>
        </p:nvSpPr>
        <p:spPr>
          <a:xfrm>
            <a:off x="6126480" y="1188720"/>
            <a:ext cx="2468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reguntas cifra"/>
          <p:cNvSpPr txBox="1"/>
          <p:nvPr/>
        </p:nvSpPr>
        <p:spPr>
          <a:xfrm>
            <a:off x="6263640" y="1280160"/>
            <a:ext cx="21945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12" name="Preguntas etiqueta"/>
          <p:cNvSpPr txBox="1"/>
          <p:nvPr/>
        </p:nvSpPr>
        <p:spPr>
          <a:xfrm>
            <a:off x="6263640" y="18516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preguntas de validación</a:t>
            </a:r>
            <a:endParaRPr lang="en-US" sz="1400" dirty="0"/>
          </a:p>
        </p:txBody>
      </p:sp>
      <p:graphicFrame>
        <p:nvGraphicFramePr>
          <p:cNvPr id="13" name="Tabla de nive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4023360" cy="16459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Nivel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Entrenamiento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Validación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Fácil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1,086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Medio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891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Difícil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1,046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Notas de datos"/>
          <p:cNvSpPr txBox="1"/>
          <p:nvPr/>
        </p:nvSpPr>
        <p:spPr>
          <a:xfrm>
            <a:off x="4937760" y="260604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Hotel y fútbol se reservaron para validación y no aparecen en entrenamiento.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79 descartes: 75 por resultado vacío y 4 por más de 500 filas.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Validado en MySQL 8.4.10 con ONLY_FULL_GROUP_BY.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se mide la exactitud</a:t>
            </a:r>
            <a:endParaRPr lang="en-US" sz="3400" dirty="0"/>
          </a:p>
        </p:txBody>
      </p:sp>
      <p:sp>
        <p:nvSpPr>
          <p:cNvPr id="4" name="Fórmula tarjeta"/>
          <p:cNvSpPr/>
          <p:nvPr/>
        </p:nvSpPr>
        <p:spPr>
          <a:xfrm>
            <a:off x="548640" y="1188720"/>
            <a:ext cx="51206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Fórmula"/>
          <p:cNvSpPr txBox="1"/>
          <p:nvPr/>
        </p:nvSpPr>
        <p:spPr>
          <a:xfrm>
            <a:off x="731520" y="11887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 = </a:t>
            </a: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pesos acertados / suma de pesos</a:t>
            </a:r>
            <a:endParaRPr lang="en-US" sz="1700" dirty="0"/>
          </a:p>
        </p:txBody>
      </p:sp>
      <p:sp>
        <p:nvSpPr>
          <p:cNvPr id="6" name="Reglas de comparación"/>
          <p:cNvSpPr txBox="1"/>
          <p:nvPr/>
        </p:nvSpPr>
        <p:spPr>
          <a:xfrm>
            <a:off x="54864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comparan los resultados ejecutados de las consultas.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Pesos 1, 2 y 3 (fácil, medio, difícil); total 82.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 números se redondean a dos decimales.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orden cuenta solo cuando se solicita; se permiten columnas adicionales.</a:t>
            </a:r>
            <a:endParaRPr lang="en-US" sz="1500" dirty="0"/>
          </a:p>
        </p:txBody>
      </p:sp>
      <p:sp>
        <p:nvSpPr>
          <p:cNvPr id="7" name="Oráculo tarjeta"/>
          <p:cNvSpPr/>
          <p:nvPr/>
        </p:nvSpPr>
        <p:spPr>
          <a:xfrm>
            <a:off x="6035040" y="1188720"/>
            <a:ext cx="2560320" cy="32461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Oráculo cifra"/>
          <p:cNvSpPr txBox="1"/>
          <p:nvPr/>
        </p:nvSpPr>
        <p:spPr>
          <a:xfrm>
            <a:off x="6172200" y="14173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9" name="Oráculo título"/>
          <p:cNvSpPr txBox="1"/>
          <p:nvPr/>
        </p:nvSpPr>
        <p:spPr>
          <a:xfrm>
            <a:off x="61722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EX del oráculo</a:t>
            </a:r>
            <a:endParaRPr lang="en-US" sz="1600" dirty="0"/>
          </a:p>
        </p:txBody>
      </p:sp>
      <p:sp>
        <p:nvSpPr>
          <p:cNvPr id="10" name="Oráculo nota"/>
          <p:cNvSpPr txBox="1"/>
          <p:nvPr/>
        </p:nvSpPr>
        <p:spPr>
          <a:xfrm>
            <a:off x="6217920" y="29260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Comprueba el evaluador; no representa el rendimiento del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Diseño experimental</a:t>
            </a:r>
            <a:endParaRPr lang="en-US" sz="3400" dirty="0"/>
          </a:p>
        </p:txBody>
      </p:sp>
      <p:graphicFrame>
        <p:nvGraphicFramePr>
          <p:cNvPr id="6" name="Tabla de ran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4846320" cy="20116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Rango 8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Rango 16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Parámetros entrenables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540,672</a:t>
                      </a:r>
                      <a:endParaRPr lang="en-US" sz="16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1,081,344</a:t>
                      </a:r>
                      <a:endParaRPr lang="en-US" sz="16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Pasos / ejemplos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756 / 3,023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756 / 3,023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Tiempo en T4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27.1 min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27.0 min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Nota de tabla"/>
          <p:cNvSpPr txBox="1"/>
          <p:nvPr/>
        </p:nvSpPr>
        <p:spPr>
          <a:xfrm>
            <a:off x="54864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Continuación desde 76 pasos y 304 ejemplos por rango. Se recorrió una época adicional completa en T4.</a:t>
            </a:r>
            <a:endParaRPr lang="en-US" sz="1200" dirty="0"/>
          </a:p>
        </p:txBody>
      </p:sp>
      <p:sp>
        <p:nvSpPr>
          <p:cNvPr id="4" name="Constantes tarjeta"/>
          <p:cNvSpPr/>
          <p:nvPr/>
        </p:nvSpPr>
        <p:spPr>
          <a:xfrm>
            <a:off x="5760720" y="1188720"/>
            <a:ext cx="28346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7" name="Constantes texto"/>
          <p:cNvSpPr txBox="1"/>
          <p:nvPr/>
        </p:nvSpPr>
        <p:spPr>
          <a:xfrm>
            <a:off x="5943600" y="128016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 mantiene igual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Base NF4 / FP16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alpha 16 · dropout 0.05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q_proj y v_proj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Tasa 0.0001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Misma semilla y orden</a:t>
            </a:r>
            <a:endParaRPr lang="en-US" sz="1400" dirty="0"/>
          </a:p>
        </p:txBody>
      </p:sp>
      <p:sp>
        <p:nvSpPr>
          <p:cNvPr id="8" name="Hipótesis tarjeta"/>
          <p:cNvSpPr/>
          <p:nvPr/>
        </p:nvSpPr>
        <p:spPr>
          <a:xfrm>
            <a:off x="548640" y="3840480"/>
            <a:ext cx="80467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Hipótesis texto"/>
          <p:cNvSpPr txBox="1"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Hipótesis previa: </a:t>
            </a:r>
            <a:r>
              <a:rPr lang="en-US" sz="1400" dirty="0">
                <a:solidFill>
                  <a:schemeClr val="tx1"/>
                </a:solidFill>
              </a:rPr>
              <a:t>más rango podría representar más relaciones; menos rango podría reducir el sobreajuste.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Curvas de entrenamiento</a:t>
            </a:r>
            <a:endParaRPr lang="en-US" sz="3400" dirty="0"/>
          </a:p>
        </p:txBody>
      </p:sp>
      <p:pic>
        <p:nvPicPr>
          <p:cNvPr id="4" name="Curvas de loss" descr="Loss sobre SQL por paso de optimización para los rangos 8 y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8046720" cy="2816352"/>
          </a:xfrm>
          <a:prstGeom prst="rect">
            <a:avLst/>
          </a:prstGeom>
        </p:spPr>
      </p:pic>
      <p:sp>
        <p:nvSpPr>
          <p:cNvPr id="5" name="Idea 1 tarjeta"/>
          <p:cNvSpPr/>
          <p:nvPr/>
        </p:nvSpPr>
        <p:spPr>
          <a:xfrm>
            <a:off x="548640" y="406908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Idea 1"/>
          <p:cNvSpPr txBox="1"/>
          <p:nvPr/>
        </p:nvSpPr>
        <p:spPr>
          <a:xfrm>
            <a:off x="6858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Continuación: una época completa por rango en T4.</a:t>
            </a:r>
            <a:endParaRPr lang="en-US" sz="1300" dirty="0"/>
          </a:p>
        </p:txBody>
      </p:sp>
      <p:sp>
        <p:nvSpPr>
          <p:cNvPr id="7" name="Idea 2 tarjeta"/>
          <p:cNvSpPr/>
          <p:nvPr/>
        </p:nvSpPr>
        <p:spPr>
          <a:xfrm>
            <a:off x="4663440" y="406908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Idea 2"/>
          <p:cNvSpPr txBox="1"/>
          <p:nvPr/>
        </p:nvSpPr>
        <p:spPr>
          <a:xfrm>
            <a:off x="4800600" y="40690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Una pérdida menor no garantiza mayor EX en esquemas nuevos.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Resultados principales</a:t>
            </a:r>
            <a:endParaRPr lang="en-US" sz="3400" dirty="0"/>
          </a:p>
        </p:txBody>
      </p:sp>
      <p:graphicFrame>
        <p:nvGraphicFramePr>
          <p:cNvPr id="4" name="Gráfico EX"/>
          <p:cNvGraphicFramePr/>
          <p:nvPr/>
        </p:nvGraphicFramePr>
        <p:xfrm>
          <a:off x="548640" y="1143000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Mejora tarjeta"/>
          <p:cNvSpPr/>
          <p:nvPr/>
        </p:nvSpPr>
        <p:spPr>
          <a:xfrm>
            <a:off x="603504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Mejora cifra"/>
          <p:cNvSpPr txBox="1"/>
          <p:nvPr/>
        </p:nvSpPr>
        <p:spPr>
          <a:xfrm>
            <a:off x="6172200" y="1280160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+15.9 pp</a:t>
            </a:r>
            <a:endParaRPr lang="en-US" sz="3200" dirty="0"/>
          </a:p>
        </p:txBody>
      </p:sp>
      <p:sp>
        <p:nvSpPr>
          <p:cNvPr id="7" name="Mejora etiqueta"/>
          <p:cNvSpPr txBox="1"/>
          <p:nvPr/>
        </p:nvSpPr>
        <p:spPr>
          <a:xfrm>
            <a:off x="6172200" y="198424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rango 8 frente al baseline, sin reparación</a:t>
            </a:r>
            <a:endParaRPr lang="en-US" sz="1400" dirty="0"/>
          </a:p>
        </p:txBody>
      </p:sp>
      <p:sp>
        <p:nvSpPr>
          <p:cNvPr id="8" name="Selección tarjeta"/>
          <p:cNvSpPr/>
          <p:nvPr/>
        </p:nvSpPr>
        <p:spPr>
          <a:xfrm>
            <a:off x="603504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Selección texto"/>
          <p:cNvSpPr txBox="1"/>
          <p:nvPr/>
        </p:nvSpPr>
        <p:spPr>
          <a:xfrm>
            <a:off x="6172200" y="27432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Seleccionado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R8 + reparación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EX 45.1%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Experimento de reparación</a:t>
            </a:r>
            <a:endParaRPr lang="en-US" sz="3400" dirty="0"/>
          </a:p>
        </p:txBody>
      </p:sp>
      <p:graphicFrame>
        <p:nvGraphicFramePr>
          <p:cNvPr id="9" name="Tabla de repara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120640" cy="12344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Inferencia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EX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Aciertos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Tiempo medio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Sin reparación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0.439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21/40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3.18 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7F9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 reparación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0.451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22/40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4.93 s</a:t>
                      </a:r>
                      <a:endParaRPr lang="en-US" sz="14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Decisión tarjeta"/>
          <p:cNvSpPr/>
          <p:nvPr/>
        </p:nvSpPr>
        <p:spPr>
          <a:xfrm>
            <a:off x="6035040" y="1188720"/>
            <a:ext cx="25603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Decisión texto"/>
          <p:cNvSpPr txBox="1"/>
          <p:nvPr/>
        </p:nvSpPr>
        <p:spPr>
          <a:xfrm>
            <a:off x="6172200" y="11887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Entrega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Reparación activada</a:t>
            </a:r>
            <a:endParaRPr lang="en-US" sz="1400" dirty="0"/>
          </a:p>
        </p:txBody>
      </p:sp>
      <p:sp>
        <p:nvSpPr>
          <p:cNvPr id="7" name="Paso 1 tarjeta"/>
          <p:cNvSpPr/>
          <p:nvPr/>
        </p:nvSpPr>
        <p:spPr>
          <a:xfrm>
            <a:off x="548640" y="269748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Paso 1 círculo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Paso 1 número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Paso 1 texto"/>
          <p:cNvSpPr txBox="1"/>
          <p:nvPr/>
        </p:nvSpPr>
        <p:spPr>
          <a:xfrm>
            <a:off x="128016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Corrección conservadora de identificadores</a:t>
            </a:r>
            <a:endParaRPr lang="en-US" sz="1400" dirty="0"/>
          </a:p>
        </p:txBody>
      </p:sp>
      <p:sp>
        <p:nvSpPr>
          <p:cNvPr id="11" name="Paso 2 tarjeta"/>
          <p:cNvSpPr/>
          <p:nvPr/>
        </p:nvSpPr>
        <p:spPr>
          <a:xfrm>
            <a:off x="4663440" y="2697480"/>
            <a:ext cx="39319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2" name="Paso 2 círculo"/>
          <p:cNvSpPr/>
          <p:nvPr/>
        </p:nvSpPr>
        <p:spPr>
          <a:xfrm>
            <a:off x="480060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3" name="Paso 2 número"/>
          <p:cNvSpPr txBox="1"/>
          <p:nvPr/>
        </p:nvSpPr>
        <p:spPr>
          <a:xfrm>
            <a:off x="48006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Paso 2 texto"/>
          <p:cNvSpPr txBox="1"/>
          <p:nvPr/>
        </p:nvSpPr>
        <p:spPr>
          <a:xfrm>
            <a:off x="539496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Regeneración con el error de MySQL</a:t>
            </a:r>
            <a:endParaRPr lang="en-US" sz="1400" dirty="0"/>
          </a:p>
        </p:txBody>
      </p:sp>
      <p:sp>
        <p:nvSpPr>
          <p:cNvPr id="15" name="Notas de reparación"/>
          <p:cNvSpPr txBox="1"/>
          <p:nvPr/>
        </p:nvSpPr>
        <p:spPr>
          <a:xfrm>
            <a:off x="548640" y="3703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Hasta dos llamadas de diagnóstico y presupuesto conjunto de 25 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consulta ejecutable puede seguir respondiendo mal; la regeneración puede quedar incompleta bajo el límite de tiempo.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Análisis de errores</a:t>
            </a:r>
            <a:endParaRPr lang="en-US" sz="3400" dirty="0"/>
          </a:p>
        </p:txBody>
      </p:sp>
      <p:graphicFrame>
        <p:nvGraphicFramePr>
          <p:cNvPr id="4" name="Gráfico de errores"/>
          <p:cNvGraphicFramePr/>
          <p:nvPr/>
        </p:nvGraphicFramePr>
        <p:xfrm>
          <a:off x="548640" y="1143000"/>
          <a:ext cx="42062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Ejemplo 1 tarjeta"/>
          <p:cNvSpPr/>
          <p:nvPr/>
        </p:nvSpPr>
        <p:spPr>
          <a:xfrm>
            <a:off x="5029200" y="118872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Ejemplo 1 texto"/>
          <p:cNvSpPr txBox="1"/>
          <p:nvPr/>
        </p:nvSpPr>
        <p:spPr>
          <a:xfrm>
            <a:off x="5166360" y="1188720"/>
            <a:ext cx="3337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Columna inexistente (v13)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76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 AVG(h.tarifa_noche)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  AVG(t.tarifa_noche)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tarifa pertenece a tipos_habitacion.</a:t>
            </a:r>
            <a:endParaRPr lang="en-US" sz="1400" dirty="0"/>
          </a:p>
        </p:txBody>
      </p:sp>
      <p:sp>
        <p:nvSpPr>
          <p:cNvPr id="7" name="Ejemplo 2 tarjeta"/>
          <p:cNvSpPr/>
          <p:nvPr/>
        </p:nvSpPr>
        <p:spPr>
          <a:xfrm>
            <a:off x="5029200" y="29260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Ejemplo 2 texto"/>
          <p:cNvSpPr txBox="1"/>
          <p:nvPr/>
        </p:nvSpPr>
        <p:spPr>
          <a:xfrm>
            <a:off x="5166360" y="2926080"/>
            <a:ext cx="3337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Agregación (v08)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C76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 HAVING COUNT(*) &gt; 15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  HAVING SUM(r.noches) &gt; 15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 contó en lugar de sumar noches.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Verificación de inferencia</a:t>
            </a:r>
            <a:endParaRPr lang="en-US" sz="3400" dirty="0"/>
          </a:p>
        </p:txBody>
      </p:sp>
      <p:sp>
        <p:nvSpPr>
          <p:cNvPr id="4" name="Carga tarjeta"/>
          <p:cNvSpPr/>
          <p:nvPr/>
        </p:nvSpPr>
        <p:spPr>
          <a:xfrm>
            <a:off x="54864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Carga cifra"/>
          <p:cNvSpPr txBox="1"/>
          <p:nvPr/>
        </p:nvSpPr>
        <p:spPr>
          <a:xfrm>
            <a:off x="68580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4.89 s</a:t>
            </a:r>
            <a:endParaRPr lang="en-US" sz="3400" dirty="0"/>
          </a:p>
        </p:txBody>
      </p:sp>
      <p:sp>
        <p:nvSpPr>
          <p:cNvPr id="6" name="Carga etiqueta"/>
          <p:cNvSpPr txBox="1"/>
          <p:nvPr/>
        </p:nvSpPr>
        <p:spPr>
          <a:xfrm>
            <a:off x="68580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carga del modelo</a:t>
            </a:r>
            <a:endParaRPr lang="en-US" sz="1400" dirty="0"/>
          </a:p>
        </p:txBody>
      </p:sp>
      <p:sp>
        <p:nvSpPr>
          <p:cNvPr id="7" name="Casos tarjeta"/>
          <p:cNvSpPr/>
          <p:nvPr/>
        </p:nvSpPr>
        <p:spPr>
          <a:xfrm>
            <a:off x="333756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Casos cifra"/>
          <p:cNvSpPr txBox="1"/>
          <p:nvPr/>
        </p:nvSpPr>
        <p:spPr>
          <a:xfrm>
            <a:off x="347472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3</a:t>
            </a:r>
            <a:endParaRPr lang="en-US" sz="3400" dirty="0"/>
          </a:p>
        </p:txBody>
      </p:sp>
      <p:sp>
        <p:nvSpPr>
          <p:cNvPr id="9" name="Casos etiqueta"/>
          <p:cNvSpPr txBox="1"/>
          <p:nvPr/>
        </p:nvSpPr>
        <p:spPr>
          <a:xfrm>
            <a:off x="347472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casos repetidos cumplidos</a:t>
            </a:r>
            <a:endParaRPr lang="en-US" sz="1400" dirty="0"/>
          </a:p>
        </p:txBody>
      </p:sp>
      <p:sp>
        <p:nvSpPr>
          <p:cNvPr id="10" name="Pruebas tarjeta"/>
          <p:cNvSpPr/>
          <p:nvPr/>
        </p:nvSpPr>
        <p:spPr>
          <a:xfrm>
            <a:off x="6126480" y="1188720"/>
            <a:ext cx="24688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Pruebas cifra"/>
          <p:cNvSpPr txBox="1"/>
          <p:nvPr/>
        </p:nvSpPr>
        <p:spPr>
          <a:xfrm>
            <a:off x="6263640" y="1280160"/>
            <a:ext cx="21945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12" name="Pruebas etiqueta"/>
          <p:cNvSpPr txBox="1"/>
          <p:nvPr/>
        </p:nvSpPr>
        <p:spPr>
          <a:xfrm>
            <a:off x="6263640" y="1878178"/>
            <a:ext cx="219456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pruebas automatizadas aprobadas</a:t>
            </a:r>
            <a:endParaRPr lang="en-US" sz="1400" dirty="0"/>
          </a:p>
        </p:txBody>
      </p:sp>
      <p:sp>
        <p:nvSpPr>
          <p:cNvPr id="13" name="Control 1"/>
          <p:cNvSpPr/>
          <p:nvPr/>
        </p:nvSpPr>
        <p:spPr>
          <a:xfrm>
            <a:off x="5486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Control 1 texto"/>
          <p:cNvSpPr txBox="1"/>
          <p:nvPr/>
        </p:nvSpPr>
        <p:spPr>
          <a:xfrm>
            <a:off x="5486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Determinismo</a:t>
            </a:r>
            <a:endParaRPr lang="en-US" sz="1400" dirty="0"/>
          </a:p>
        </p:txBody>
      </p:sp>
      <p:sp>
        <p:nvSpPr>
          <p:cNvPr id="15" name="Control 2"/>
          <p:cNvSpPr/>
          <p:nvPr/>
        </p:nvSpPr>
        <p:spPr>
          <a:xfrm>
            <a:off x="26060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Control 2 texto"/>
          <p:cNvSpPr txBox="1"/>
          <p:nvPr/>
        </p:nvSpPr>
        <p:spPr>
          <a:xfrm>
            <a:off x="26060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Solo lectura</a:t>
            </a:r>
            <a:endParaRPr lang="en-US" sz="1400" dirty="0"/>
          </a:p>
        </p:txBody>
      </p:sp>
      <p:sp>
        <p:nvSpPr>
          <p:cNvPr id="17" name="Control 3"/>
          <p:cNvSpPr/>
          <p:nvPr/>
        </p:nvSpPr>
        <p:spPr>
          <a:xfrm>
            <a:off x="46634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Control 3 texto"/>
          <p:cNvSpPr txBox="1"/>
          <p:nvPr/>
        </p:nvSpPr>
        <p:spPr>
          <a:xfrm>
            <a:off x="46634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Límite de llamadas</a:t>
            </a:r>
            <a:endParaRPr lang="en-US" sz="1400" dirty="0"/>
          </a:p>
        </p:txBody>
      </p:sp>
      <p:sp>
        <p:nvSpPr>
          <p:cNvPr id="19" name="Control 4"/>
          <p:cNvSpPr/>
          <p:nvPr/>
        </p:nvSpPr>
        <p:spPr>
          <a:xfrm>
            <a:off x="6720840" y="2697480"/>
            <a:ext cx="187452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0" name="Control 4 texto"/>
          <p:cNvSpPr txBox="1"/>
          <p:nvPr/>
        </p:nvSpPr>
        <p:spPr>
          <a:xfrm>
            <a:off x="6720840" y="2697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✓ Límite de tiempo</a:t>
            </a:r>
            <a:endParaRPr lang="en-US" sz="1400" dirty="0"/>
          </a:p>
        </p:txBody>
      </p:sp>
      <p:sp>
        <p:nvSpPr>
          <p:cNvPr id="21" name="Aclaración de hardware"/>
          <p:cNvSpPr txBox="1"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Validación e inferencia comprobadas en Tesla T4. Tiempo máximo por pregunta: 25.15 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Conclusiones y predicción</a:t>
            </a:r>
            <a:endParaRPr lang="en-US" sz="3400" dirty="0"/>
          </a:p>
        </p:txBody>
      </p:sp>
      <p:sp>
        <p:nvSpPr>
          <p:cNvPr id="4" name="Adapter tarjeta"/>
          <p:cNvSpPr/>
          <p:nvPr/>
        </p:nvSpPr>
        <p:spPr>
          <a:xfrm>
            <a:off x="54864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Adapter cifra"/>
          <p:cNvSpPr txBox="1"/>
          <p:nvPr/>
        </p:nvSpPr>
        <p:spPr>
          <a:xfrm>
            <a:off x="68580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Rango 8</a:t>
            </a:r>
            <a:endParaRPr lang="en-US" sz="2400" dirty="0"/>
          </a:p>
        </p:txBody>
      </p:sp>
      <p:sp>
        <p:nvSpPr>
          <p:cNvPr id="6" name="Adapter etiqueta"/>
          <p:cNvSpPr txBox="1"/>
          <p:nvPr/>
        </p:nvSpPr>
        <p:spPr>
          <a:xfrm>
            <a:off x="68580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adapter elegido</a:t>
            </a:r>
            <a:endParaRPr lang="en-US" sz="1400" dirty="0"/>
          </a:p>
        </p:txBody>
      </p:sp>
      <p:sp>
        <p:nvSpPr>
          <p:cNvPr id="7" name="Estrategia tarjeta"/>
          <p:cNvSpPr/>
          <p:nvPr/>
        </p:nvSpPr>
        <p:spPr>
          <a:xfrm>
            <a:off x="256032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Estrategia cifra"/>
          <p:cNvSpPr txBox="1"/>
          <p:nvPr/>
        </p:nvSpPr>
        <p:spPr>
          <a:xfrm>
            <a:off x="269748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reparación</a:t>
            </a:r>
            <a:endParaRPr lang="en-US" sz="1800" dirty="0"/>
          </a:p>
        </p:txBody>
      </p:sp>
      <p:sp>
        <p:nvSpPr>
          <p:cNvPr id="9" name="Estrategia etiqueta"/>
          <p:cNvSpPr txBox="1"/>
          <p:nvPr/>
        </p:nvSpPr>
        <p:spPr>
          <a:xfrm>
            <a:off x="269748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estrategia elegida</a:t>
            </a:r>
            <a:endParaRPr lang="en-US" sz="1400" dirty="0"/>
          </a:p>
        </p:txBody>
      </p:sp>
      <p:sp>
        <p:nvSpPr>
          <p:cNvPr id="10" name="EX propia tarjeta"/>
          <p:cNvSpPr/>
          <p:nvPr/>
        </p:nvSpPr>
        <p:spPr>
          <a:xfrm>
            <a:off x="4572000" y="1143000"/>
            <a:ext cx="18288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EX propia cifra"/>
          <p:cNvSpPr txBox="1"/>
          <p:nvPr/>
        </p:nvSpPr>
        <p:spPr>
          <a:xfrm>
            <a:off x="4709160" y="1234440"/>
            <a:ext cx="155448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0.451</a:t>
            </a:r>
            <a:endParaRPr lang="en-US" sz="3000" dirty="0"/>
          </a:p>
        </p:txBody>
      </p:sp>
      <p:sp>
        <p:nvSpPr>
          <p:cNvPr id="12" name="EX propia etiqueta"/>
          <p:cNvSpPr txBox="1"/>
          <p:nvPr/>
        </p:nvSpPr>
        <p:spPr>
          <a:xfrm>
            <a:off x="4709160" y="18059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EX propia final</a:t>
            </a:r>
            <a:endParaRPr lang="en-US" sz="1400" dirty="0"/>
          </a:p>
        </p:txBody>
      </p:sp>
      <p:sp>
        <p:nvSpPr>
          <p:cNvPr id="13" name="EX oculta tarjeta"/>
          <p:cNvSpPr/>
          <p:nvPr/>
        </p:nvSpPr>
        <p:spPr>
          <a:xfrm>
            <a:off x="6583680" y="1143000"/>
            <a:ext cx="20116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EX oculta cifra"/>
          <p:cNvSpPr txBox="1"/>
          <p:nvPr/>
        </p:nvSpPr>
        <p:spPr>
          <a:xfrm>
            <a:off x="6720840" y="1234440"/>
            <a:ext cx="17373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0.36</a:t>
            </a:r>
            <a:endParaRPr lang="en-US" sz="3000" dirty="0"/>
          </a:p>
        </p:txBody>
      </p:sp>
      <p:sp>
        <p:nvSpPr>
          <p:cNvPr id="15" name="EX oculta etiqueta"/>
          <p:cNvSpPr txBox="1"/>
          <p:nvPr/>
        </p:nvSpPr>
        <p:spPr>
          <a:xfrm>
            <a:off x="6720840" y="18059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EX oculta estimada</a:t>
            </a:r>
            <a:endParaRPr lang="en-US" sz="1400" dirty="0"/>
          </a:p>
        </p:txBody>
      </p:sp>
      <p:sp>
        <p:nvSpPr>
          <p:cNvPr id="16" name="Nota de estimación"/>
          <p:cNvSpPr txBox="1"/>
          <p:nvPr/>
        </p:nvSpPr>
        <p:spPr>
          <a:xfrm>
            <a:off x="548640" y="2423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La estimación aplica un descuento relativo heurístico del 20%; no es una medición oficial ni un intervalo de confianza.</a:t>
            </a:r>
            <a:endParaRPr lang="en-US" sz="1400" dirty="0"/>
          </a:p>
        </p:txBody>
      </p:sp>
      <p:sp>
        <p:nvSpPr>
          <p:cNvPr id="17" name="Título de límites"/>
          <p:cNvSpPr txBox="1"/>
          <p:nvPr/>
        </p:nvSpPr>
        <p:spPr>
          <a:xfrm>
            <a:off x="5486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Límites</a:t>
            </a:r>
            <a:endParaRPr lang="en-US" sz="1600" dirty="0"/>
          </a:p>
        </p:txBody>
      </p:sp>
      <p:sp>
        <p:nvSpPr>
          <p:cNvPr id="18" name="Límite 1 tarjeta"/>
          <p:cNvSpPr/>
          <p:nvPr/>
        </p:nvSpPr>
        <p:spPr>
          <a:xfrm>
            <a:off x="5486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9" name="Límite 1"/>
          <p:cNvSpPr txBox="1"/>
          <p:nvPr/>
        </p:nvSpPr>
        <p:spPr>
          <a:xfrm>
            <a:off x="6858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Datos basados en plantillas</a:t>
            </a:r>
            <a:endParaRPr lang="en-US" sz="1400" dirty="0"/>
          </a:p>
        </p:txBody>
      </p:sp>
      <p:sp>
        <p:nvSpPr>
          <p:cNvPr id="20" name="Límite 2 tarjeta"/>
          <p:cNvSpPr/>
          <p:nvPr/>
        </p:nvSpPr>
        <p:spPr>
          <a:xfrm>
            <a:off x="32918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1" name="Límite 2"/>
          <p:cNvSpPr txBox="1"/>
          <p:nvPr/>
        </p:nvSpPr>
        <p:spPr>
          <a:xfrm>
            <a:off x="34290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Solo dos dominios de validación</a:t>
            </a:r>
            <a:endParaRPr lang="en-US" sz="1400" dirty="0"/>
          </a:p>
        </p:txBody>
      </p:sp>
      <p:sp>
        <p:nvSpPr>
          <p:cNvPr id="22" name="Límite 3 tarjeta"/>
          <p:cNvSpPr/>
          <p:nvPr/>
        </p:nvSpPr>
        <p:spPr>
          <a:xfrm>
            <a:off x="6035040" y="3520440"/>
            <a:ext cx="25603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3" name="Límite 3"/>
          <p:cNvSpPr txBox="1"/>
          <p:nvPr/>
        </p:nvSpPr>
        <p:spPr>
          <a:xfrm>
            <a:off x="6172200" y="35204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Mayor cobertura sin mejora de EX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xt-to-SQL">
  <a:themeElements>
    <a:clrScheme name="Text-to-SQL">
      <a:dk1>
        <a:srgbClr val="1F2A33"/>
      </a:dk1>
      <a:lt1>
        <a:srgbClr val="FFFFFF"/>
      </a:lt1>
      <a:dk2>
        <a:srgbClr val="0B5C6B"/>
      </a:dk2>
      <a:lt2>
        <a:srgbClr val="EEF4F6"/>
      </a:lt2>
      <a:accent1>
        <a:srgbClr val="007F92"/>
      </a:accent1>
      <a:accent2>
        <a:srgbClr val="C76035"/>
      </a:accent2>
      <a:accent3>
        <a:srgbClr val="55656F"/>
      </a:accent3>
      <a:accent4>
        <a:srgbClr val="9CC9D1"/>
      </a:accent4>
      <a:accent5>
        <a:srgbClr val="B5483A"/>
      </a:accent5>
      <a:accent6>
        <a:srgbClr val="3E7C59"/>
      </a:accent6>
      <a:hlink>
        <a:srgbClr val="007F92"/>
      </a:hlink>
      <a:folHlink>
        <a:srgbClr val="55656F"/>
      </a:folHlink>
    </a:clrScheme>
    <a:fontScheme name="Text-to-SQ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597</Words>
  <Application>Microsoft Office PowerPoint</Application>
  <PresentationFormat>Presentación en pantalla (16:9)</PresentationFormat>
  <Paragraphs>159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Text-to-SQL</vt:lpstr>
      <vt:lpstr>Presentación de PowerPoint</vt:lpstr>
      <vt:lpstr>Objetivo y funcionamiento</vt:lpstr>
      <vt:lpstr>Datos y separación de esquemas</vt:lpstr>
      <vt:lpstr>Cómo se mide la exactitud</vt:lpstr>
      <vt:lpstr>Diseño experimental</vt:lpstr>
      <vt:lpstr>Curvas de entrenamiento</vt:lpstr>
      <vt:lpstr>Resultados principales</vt:lpstr>
      <vt:lpstr>Experimento de reparación</vt:lpstr>
      <vt:lpstr>Análisis de errores</vt:lpstr>
      <vt:lpstr>Verificación de inferencia</vt:lpstr>
      <vt:lpstr>Conclusiones y predicción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Text-to-SQL con QLoRA</dc:title>
  <dc:subject>PptxGenJS Presentation</dc:subject>
  <dc:creator>Nina Nájera y Alejandro Antón</dc:creator>
  <cp:lastModifiedBy>NAJERA MARAKOVITS, INGRID NINA ALESSANDRA</cp:lastModifiedBy>
  <cp:revision>2</cp:revision>
  <dcterms:created xsi:type="dcterms:W3CDTF">2026-10-26T06:04:48Z</dcterms:created>
  <dcterms:modified xsi:type="dcterms:W3CDTF">2026-10-26T06:13:44Z</dcterms:modified>
</cp:coreProperties>
</file>